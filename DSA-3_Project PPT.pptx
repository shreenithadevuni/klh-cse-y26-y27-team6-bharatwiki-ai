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59" d="100"/>
          <a:sy n="59" d="100"/>
        </p:scale>
        <p:origin x="96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10/6/2026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10/6/2026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10/6/2026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10/6/2026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10/6/2026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10/6/2026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00978" y="814415"/>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Intelligent Multilingual Knowledge Discovery Platform</a:t>
            </a:r>
          </a:p>
        </p:txBody>
      </p:sp>
      <p:sp>
        <p:nvSpPr>
          <p:cNvPr id="3" name="Subtitle 2"/>
          <p:cNvSpPr>
            <a:spLocks noGrp="1"/>
          </p:cNvSpPr>
          <p:nvPr>
            <p:ph type="subTitle" idx="1"/>
          </p:nvPr>
        </p:nvSpPr>
        <p:spPr>
          <a:xfrm>
            <a:off x="3569120" y="3278437"/>
            <a:ext cx="4551284" cy="1396014"/>
          </a:xfrm>
        </p:spPr>
        <p:txBody>
          <a:bodyPr/>
          <a:lstStyle/>
          <a:p>
            <a:r>
              <a:rPr lang="en-US" dirty="0">
                <a:solidFill>
                  <a:srgbClr val="0070C0"/>
                </a:solidFill>
              </a:rPr>
              <a:t>Team Members</a:t>
            </a:r>
          </a:p>
          <a:p>
            <a:r>
              <a:rPr lang="en-US" dirty="0" err="1">
                <a:solidFill>
                  <a:srgbClr val="0070C0"/>
                </a:solidFill>
              </a:rPr>
              <a:t>G.Neha</a:t>
            </a:r>
            <a:r>
              <a:rPr lang="en-US" dirty="0">
                <a:solidFill>
                  <a:srgbClr val="0070C0"/>
                </a:solidFill>
              </a:rPr>
              <a:t> 2520030068</a:t>
            </a:r>
          </a:p>
          <a:p>
            <a:r>
              <a:rPr lang="en-US" dirty="0">
                <a:solidFill>
                  <a:srgbClr val="0070C0"/>
                </a:solidFill>
              </a:rPr>
              <a:t>D. </a:t>
            </a:r>
            <a:r>
              <a:rPr lang="en-US" dirty="0" err="1">
                <a:solidFill>
                  <a:srgbClr val="0070C0"/>
                </a:solidFill>
              </a:rPr>
              <a:t>Shreenitha</a:t>
            </a:r>
            <a:r>
              <a:rPr lang="en-US" dirty="0">
                <a:solidFill>
                  <a:srgbClr val="0070C0"/>
                </a:solidFill>
              </a:rPr>
              <a:t> 2520030504</a:t>
            </a:r>
          </a:p>
          <a:p>
            <a:r>
              <a:rPr lang="en-US" dirty="0" err="1">
                <a:solidFill>
                  <a:srgbClr val="0070C0"/>
                </a:solidFill>
              </a:rPr>
              <a:t>A.Srihitha</a:t>
            </a:r>
            <a:r>
              <a:rPr lang="en-US" dirty="0">
                <a:solidFill>
                  <a:srgbClr val="0070C0"/>
                </a:solidFill>
              </a:rPr>
              <a:t> 2520030566</a:t>
            </a:r>
          </a:p>
          <a:p>
            <a:pPr marL="171450" algn="ctr">
              <a:lnSpc>
                <a:spcPct val="107000"/>
              </a:lnSpc>
              <a:spcAft>
                <a:spcPts val="800"/>
              </a:spcAft>
            </a:pP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gn="ctr">
              <a:lnSpc>
                <a:spcPct val="107000"/>
              </a:lnSpc>
              <a:spcAft>
                <a:spcPts val="800"/>
              </a:spcAft>
            </a:pPr>
            <a:r>
              <a:rPr lang="en-US" sz="1800"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Name of the DSA-3 faculty name with designation and department  </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5" name="TextBox 4">
            <a:extLst>
              <a:ext uri="{FF2B5EF4-FFF2-40B4-BE49-F238E27FC236}">
                <a16:creationId xmlns:a16="http://schemas.microsoft.com/office/drawing/2014/main" id="{47BD380D-6ABE-9860-8462-EDF3142EDC50}"/>
              </a:ext>
            </a:extLst>
          </p:cNvPr>
          <p:cNvSpPr txBox="1"/>
          <p:nvPr/>
        </p:nvSpPr>
        <p:spPr>
          <a:xfrm>
            <a:off x="1036320" y="1760925"/>
            <a:ext cx="10668000" cy="3785652"/>
          </a:xfrm>
          <a:prstGeom prst="rect">
            <a:avLst/>
          </a:prstGeom>
          <a:noFill/>
        </p:spPr>
        <p:txBody>
          <a:bodyPr wrap="square">
            <a:spAutoFit/>
          </a:bodyPr>
          <a:lstStyle/>
          <a:p>
            <a:pPr algn="just"/>
            <a:r>
              <a:rPr lang="en-US" sz="2000" dirty="0" err="1">
                <a:latin typeface="Times New Roman" panose="02020603050405020304" pitchFamily="18" charset="0"/>
                <a:cs typeface="Times New Roman" panose="02020603050405020304" pitchFamily="18" charset="0"/>
              </a:rPr>
              <a:t>BharatWiki</a:t>
            </a:r>
            <a:r>
              <a:rPr lang="en-US" sz="2000" dirty="0">
                <a:latin typeface="Times New Roman" panose="02020603050405020304" pitchFamily="18" charset="0"/>
                <a:cs typeface="Times New Roman" panose="02020603050405020304" pitchFamily="18" charset="0"/>
              </a:rPr>
              <a:t> AI is an AI-powered multilingual knowledge discovery platform designed to provide fast and relevant information from Indian-language Wikipedia content. The system initially supports Hindi, Telugu, Tamil, and Kannada. Wikipedia data is collected, cleaned, normalized, and indexed to make searching efficient. Apache Lucene is used as the search engine, while TF-IDF and BM25 algorithms are used to rank results based on relevance. The platform supports single-keyword, multiple-keyword, and multilingual searches. NLP and AI techniques are used to provide semantic search, AI-generated summaries, related-article recommendations, keyword highlighting, and search suggestions. React is used for the frontend, Java Spring Boot for the backend, and PostgreSQL for database management. An analytics dashboard provides information about search trends, popular topics, language distribution, and response time. The main objective of </a:t>
            </a:r>
            <a:r>
              <a:rPr lang="en-US" sz="2000" dirty="0" err="1">
                <a:latin typeface="Times New Roman" panose="02020603050405020304" pitchFamily="18" charset="0"/>
                <a:cs typeface="Times New Roman" panose="02020603050405020304" pitchFamily="18" charset="0"/>
              </a:rPr>
              <a:t>BharatWiki</a:t>
            </a:r>
            <a:r>
              <a:rPr lang="en-US" sz="2000" dirty="0">
                <a:latin typeface="Times New Roman" panose="02020603050405020304" pitchFamily="18" charset="0"/>
                <a:cs typeface="Times New Roman" panose="02020603050405020304" pitchFamily="18" charset="0"/>
              </a:rPr>
              <a:t> AI is to make knowledge discovery faster, easier, and more useful for Indian-language users while demonstrating the practical use of AI, NLP, information retrieval, and multilingual computing.</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5" name="TextBox 4">
            <a:extLst>
              <a:ext uri="{FF2B5EF4-FFF2-40B4-BE49-F238E27FC236}">
                <a16:creationId xmlns:a16="http://schemas.microsoft.com/office/drawing/2014/main" id="{56BDF65D-C2FC-5A55-EECF-C437669FD0EB}"/>
              </a:ext>
            </a:extLst>
          </p:cNvPr>
          <p:cNvSpPr txBox="1"/>
          <p:nvPr/>
        </p:nvSpPr>
        <p:spPr>
          <a:xfrm>
            <a:off x="2021840" y="2136338"/>
            <a:ext cx="8473440" cy="3139321"/>
          </a:xfrm>
          <a:prstGeom prst="rect">
            <a:avLst/>
          </a:prstGeom>
          <a:noFill/>
        </p:spPr>
        <p:txBody>
          <a:bodyPr wrap="square">
            <a:spAutoFit/>
          </a:bodyPr>
          <a:lstStyle/>
          <a:p>
            <a:endParaRPr lang="en-US" dirty="0"/>
          </a:p>
          <a:p>
            <a:pPr algn="just"/>
            <a:r>
              <a:rPr lang="en-US" sz="2000" dirty="0" err="1">
                <a:latin typeface="Times New Roman" panose="02020603050405020304" pitchFamily="18" charset="0"/>
                <a:cs typeface="Times New Roman" panose="02020603050405020304" pitchFamily="18" charset="0"/>
              </a:rPr>
              <a:t>BharatWiki</a:t>
            </a:r>
            <a:r>
              <a:rPr lang="en-US" sz="2000" dirty="0">
                <a:latin typeface="Times New Roman" panose="02020603050405020304" pitchFamily="18" charset="0"/>
                <a:cs typeface="Times New Roman" panose="02020603050405020304" pitchFamily="18" charset="0"/>
              </a:rPr>
              <a:t> AI – Intelligent Multilingual Knowledge Discovery Platform is a multilingual search system designed to help users efficiently find information from Indian-language content. The project focuses on languages such as Hindi, Telugu, Tamil, and Kannada. It uses NLP techniques including text cleaning, Unicode normalization, tokenization, and stop-word removal to process the data. An Inverted Index  is used as the main data structure for fast document retrieval, while TF-IDF and BM25 techniques are used to rank search results based on relevance. The platform aims to make multilingual knowledge discovery faster, efficient, and more accessible to users.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graphicFrame>
        <p:nvGraphicFramePr>
          <p:cNvPr id="4" name="Table 3">
            <a:extLst>
              <a:ext uri="{FF2B5EF4-FFF2-40B4-BE49-F238E27FC236}">
                <a16:creationId xmlns:a16="http://schemas.microsoft.com/office/drawing/2014/main" id="{D35D5B19-0BE5-CCAB-AB1B-2C09FAA7D8BF}"/>
              </a:ext>
            </a:extLst>
          </p:cNvPr>
          <p:cNvGraphicFramePr>
            <a:graphicFrameLocks noGrp="1"/>
          </p:cNvGraphicFramePr>
          <p:nvPr>
            <p:extLst>
              <p:ext uri="{D42A27DB-BD31-4B8C-83A1-F6EECF244321}">
                <p14:modId xmlns:p14="http://schemas.microsoft.com/office/powerpoint/2010/main" val="4290585851"/>
              </p:ext>
            </p:extLst>
          </p:nvPr>
        </p:nvGraphicFramePr>
        <p:xfrm>
          <a:off x="1351280" y="949815"/>
          <a:ext cx="9702800" cy="5686512"/>
        </p:xfrm>
        <a:graphic>
          <a:graphicData uri="http://schemas.openxmlformats.org/drawingml/2006/table">
            <a:tbl>
              <a:tblPr>
                <a:tableStyleId>{5C22544A-7EE6-4342-B048-85BDC9FD1C3A}</a:tableStyleId>
              </a:tblPr>
              <a:tblGrid>
                <a:gridCol w="1916176">
                  <a:extLst>
                    <a:ext uri="{9D8B030D-6E8A-4147-A177-3AD203B41FA5}">
                      <a16:colId xmlns:a16="http://schemas.microsoft.com/office/drawing/2014/main" val="108068930"/>
                    </a:ext>
                  </a:extLst>
                </a:gridCol>
                <a:gridCol w="1946656">
                  <a:extLst>
                    <a:ext uri="{9D8B030D-6E8A-4147-A177-3AD203B41FA5}">
                      <a16:colId xmlns:a16="http://schemas.microsoft.com/office/drawing/2014/main" val="1760115942"/>
                    </a:ext>
                  </a:extLst>
                </a:gridCol>
                <a:gridCol w="1946656">
                  <a:extLst>
                    <a:ext uri="{9D8B030D-6E8A-4147-A177-3AD203B41FA5}">
                      <a16:colId xmlns:a16="http://schemas.microsoft.com/office/drawing/2014/main" val="2980759366"/>
                    </a:ext>
                  </a:extLst>
                </a:gridCol>
                <a:gridCol w="1946656">
                  <a:extLst>
                    <a:ext uri="{9D8B030D-6E8A-4147-A177-3AD203B41FA5}">
                      <a16:colId xmlns:a16="http://schemas.microsoft.com/office/drawing/2014/main" val="3137824440"/>
                    </a:ext>
                  </a:extLst>
                </a:gridCol>
                <a:gridCol w="1946656">
                  <a:extLst>
                    <a:ext uri="{9D8B030D-6E8A-4147-A177-3AD203B41FA5}">
                      <a16:colId xmlns:a16="http://schemas.microsoft.com/office/drawing/2014/main" val="4102721876"/>
                    </a:ext>
                  </a:extLst>
                </a:gridCol>
              </a:tblGrid>
              <a:tr h="172631">
                <a:tc>
                  <a:txBody>
                    <a:bodyPr/>
                    <a:lstStyle/>
                    <a:p>
                      <a:pPr>
                        <a:buNone/>
                      </a:pPr>
                      <a:r>
                        <a:rPr lang="en-US" sz="1200" dirty="0"/>
                        <a:t>No.</a:t>
                      </a:r>
                    </a:p>
                  </a:txBody>
                  <a:tcPr marL="29009" marR="29009" marT="14504" marB="14504" anchor="ctr"/>
                </a:tc>
                <a:tc>
                  <a:txBody>
                    <a:bodyPr/>
                    <a:lstStyle/>
                    <a:p>
                      <a:pPr>
                        <a:buNone/>
                      </a:pPr>
                      <a:r>
                        <a:rPr lang="en-US" sz="1200"/>
                        <a:t>Research Paper</a:t>
                      </a:r>
                    </a:p>
                  </a:txBody>
                  <a:tcPr marL="29009" marR="29009" marT="14504" marB="14504" anchor="ctr"/>
                </a:tc>
                <a:tc>
                  <a:txBody>
                    <a:bodyPr/>
                    <a:lstStyle/>
                    <a:p>
                      <a:pPr>
                        <a:buNone/>
                      </a:pPr>
                      <a:r>
                        <a:rPr lang="en-US" sz="1200"/>
                        <a:t>Authors</a:t>
                      </a:r>
                    </a:p>
                  </a:txBody>
                  <a:tcPr marL="29009" marR="29009" marT="14504" marB="14504" anchor="ctr"/>
                </a:tc>
                <a:tc>
                  <a:txBody>
                    <a:bodyPr/>
                    <a:lstStyle/>
                    <a:p>
                      <a:pPr>
                        <a:buNone/>
                      </a:pPr>
                      <a:r>
                        <a:rPr lang="en-US" sz="1200"/>
                        <a:t>Year</a:t>
                      </a:r>
                    </a:p>
                  </a:txBody>
                  <a:tcPr marL="29009" marR="29009" marT="14504" marB="14504" anchor="ctr"/>
                </a:tc>
                <a:tc>
                  <a:txBody>
                    <a:bodyPr/>
                    <a:lstStyle/>
                    <a:p>
                      <a:pPr>
                        <a:buNone/>
                      </a:pPr>
                      <a:r>
                        <a:rPr lang="en-US" sz="1200"/>
                        <a:t>Relation to Your Project</a:t>
                      </a:r>
                    </a:p>
                  </a:txBody>
                  <a:tcPr marL="29009" marR="29009" marT="14504" marB="14504" anchor="ctr"/>
                </a:tc>
                <a:extLst>
                  <a:ext uri="{0D108BD9-81ED-4DB2-BD59-A6C34878D82A}">
                    <a16:rowId xmlns:a16="http://schemas.microsoft.com/office/drawing/2014/main" val="2665538846"/>
                  </a:ext>
                </a:extLst>
              </a:tr>
              <a:tr h="470626">
                <a:tc>
                  <a:txBody>
                    <a:bodyPr/>
                    <a:lstStyle/>
                    <a:p>
                      <a:pPr>
                        <a:buNone/>
                      </a:pPr>
                      <a:r>
                        <a:rPr lang="en-US" sz="1200" dirty="0"/>
                        <a:t>1</a:t>
                      </a:r>
                    </a:p>
                  </a:txBody>
                  <a:tcPr marL="29009" marR="29009" marT="14504" marB="14504" anchor="ctr"/>
                </a:tc>
                <a:tc>
                  <a:txBody>
                    <a:bodyPr/>
                    <a:lstStyle/>
                    <a:p>
                      <a:pPr>
                        <a:buNone/>
                      </a:pPr>
                      <a:r>
                        <a:rPr lang="en-US" sz="1200"/>
                        <a:t>Cross-Lingual Information Retrieval System for Indian Languages</a:t>
                      </a:r>
                    </a:p>
                  </a:txBody>
                  <a:tcPr marL="29009" marR="29009" marT="14504" marB="14504" anchor="ctr"/>
                </a:tc>
                <a:tc>
                  <a:txBody>
                    <a:bodyPr/>
                    <a:lstStyle/>
                    <a:p>
                      <a:pPr>
                        <a:buNone/>
                      </a:pPr>
                      <a:r>
                        <a:rPr lang="en-US" sz="1200"/>
                        <a:t>Jagadeesh Jagarlamudi, A. Kumaran</a:t>
                      </a:r>
                    </a:p>
                  </a:txBody>
                  <a:tcPr marL="29009" marR="29009" marT="14504" marB="14504" anchor="ctr"/>
                </a:tc>
                <a:tc>
                  <a:txBody>
                    <a:bodyPr/>
                    <a:lstStyle/>
                    <a:p>
                      <a:pPr>
                        <a:buNone/>
                      </a:pPr>
                      <a:r>
                        <a:rPr lang="en-US" sz="1200"/>
                        <a:t>2008</a:t>
                      </a:r>
                    </a:p>
                  </a:txBody>
                  <a:tcPr marL="29009" marR="29009" marT="14504" marB="14504" anchor="ctr"/>
                </a:tc>
                <a:tc>
                  <a:txBody>
                    <a:bodyPr/>
                    <a:lstStyle/>
                    <a:p>
                      <a:pPr>
                        <a:buNone/>
                      </a:pPr>
                      <a:r>
                        <a:rPr lang="en-US" sz="1200"/>
                        <a:t>Indian-language information retrieval</a:t>
                      </a:r>
                    </a:p>
                  </a:txBody>
                  <a:tcPr marL="29009" marR="29009" marT="14504" marB="14504" anchor="ctr"/>
                </a:tc>
                <a:extLst>
                  <a:ext uri="{0D108BD9-81ED-4DB2-BD59-A6C34878D82A}">
                    <a16:rowId xmlns:a16="http://schemas.microsoft.com/office/drawing/2014/main" val="1706048699"/>
                  </a:ext>
                </a:extLst>
              </a:tr>
              <a:tr h="470626">
                <a:tc>
                  <a:txBody>
                    <a:bodyPr/>
                    <a:lstStyle/>
                    <a:p>
                      <a:pPr>
                        <a:buNone/>
                      </a:pPr>
                      <a:r>
                        <a:rPr lang="en-US" sz="1200" dirty="0"/>
                        <a:t>2</a:t>
                      </a:r>
                    </a:p>
                  </a:txBody>
                  <a:tcPr marL="29009" marR="29009" marT="14504" marB="14504" anchor="ctr"/>
                </a:tc>
                <a:tc>
                  <a:txBody>
                    <a:bodyPr/>
                    <a:lstStyle/>
                    <a:p>
                      <a:pPr>
                        <a:buNone/>
                      </a:pPr>
                      <a:r>
                        <a:rPr lang="en-US" sz="1200"/>
                        <a:t>Exploiting Wikipedia for Cross-Lingual and Multilingual Information Retrieval</a:t>
                      </a:r>
                    </a:p>
                  </a:txBody>
                  <a:tcPr marL="29009" marR="29009" marT="14504" marB="14504" anchor="ctr"/>
                </a:tc>
                <a:tc>
                  <a:txBody>
                    <a:bodyPr/>
                    <a:lstStyle/>
                    <a:p>
                      <a:pPr>
                        <a:buNone/>
                      </a:pPr>
                      <a:r>
                        <a:rPr lang="en-US" sz="1200"/>
                        <a:t>Research on Wikipedia-based multilingual IR</a:t>
                      </a:r>
                    </a:p>
                  </a:txBody>
                  <a:tcPr marL="29009" marR="29009" marT="14504" marB="14504" anchor="ctr"/>
                </a:tc>
                <a:tc>
                  <a:txBody>
                    <a:bodyPr/>
                    <a:lstStyle/>
                    <a:p>
                      <a:pPr>
                        <a:buNone/>
                      </a:pPr>
                      <a:r>
                        <a:rPr lang="en-US" sz="1200"/>
                        <a:t>2012</a:t>
                      </a:r>
                    </a:p>
                  </a:txBody>
                  <a:tcPr marL="29009" marR="29009" marT="14504" marB="14504" anchor="ctr"/>
                </a:tc>
                <a:tc>
                  <a:txBody>
                    <a:bodyPr/>
                    <a:lstStyle/>
                    <a:p>
                      <a:pPr>
                        <a:buNone/>
                      </a:pPr>
                      <a:r>
                        <a:rPr lang="en-US" sz="1200"/>
                        <a:t>Uses Wikipedia as a multilingual knowledge resource</a:t>
                      </a:r>
                    </a:p>
                  </a:txBody>
                  <a:tcPr marL="29009" marR="29009" marT="14504" marB="14504" anchor="ctr"/>
                </a:tc>
                <a:extLst>
                  <a:ext uri="{0D108BD9-81ED-4DB2-BD59-A6C34878D82A}">
                    <a16:rowId xmlns:a16="http://schemas.microsoft.com/office/drawing/2014/main" val="862070579"/>
                  </a:ext>
                </a:extLst>
              </a:tr>
              <a:tr h="470626">
                <a:tc>
                  <a:txBody>
                    <a:bodyPr/>
                    <a:lstStyle/>
                    <a:p>
                      <a:pPr>
                        <a:buNone/>
                      </a:pPr>
                      <a:r>
                        <a:rPr lang="en-US" sz="1200"/>
                        <a:t>3</a:t>
                      </a:r>
                    </a:p>
                  </a:txBody>
                  <a:tcPr marL="29009" marR="29009" marT="14504" marB="14504" anchor="ctr"/>
                </a:tc>
                <a:tc>
                  <a:txBody>
                    <a:bodyPr/>
                    <a:lstStyle/>
                    <a:p>
                      <a:pPr>
                        <a:buNone/>
                      </a:pPr>
                      <a:r>
                        <a:rPr lang="en-US" sz="1200" dirty="0"/>
                        <a:t>Exploiting Wikipedia API for Hindi-English Cross-language Information Retrieval</a:t>
                      </a:r>
                    </a:p>
                  </a:txBody>
                  <a:tcPr marL="29009" marR="29009" marT="14504" marB="14504" anchor="ctr"/>
                </a:tc>
                <a:tc>
                  <a:txBody>
                    <a:bodyPr/>
                    <a:lstStyle/>
                    <a:p>
                      <a:pPr>
                        <a:buNone/>
                      </a:pPr>
                      <a:r>
                        <a:rPr lang="en-US" sz="1200" dirty="0"/>
                        <a:t>Researchers in CLIR</a:t>
                      </a:r>
                    </a:p>
                  </a:txBody>
                  <a:tcPr marL="29009" marR="29009" marT="14504" marB="14504" anchor="ctr"/>
                </a:tc>
                <a:tc>
                  <a:txBody>
                    <a:bodyPr/>
                    <a:lstStyle/>
                    <a:p>
                      <a:pPr>
                        <a:buNone/>
                      </a:pPr>
                      <a:r>
                        <a:rPr lang="en-US" sz="1200"/>
                        <a:t>2016</a:t>
                      </a:r>
                    </a:p>
                  </a:txBody>
                  <a:tcPr marL="29009" marR="29009" marT="14504" marB="14504" anchor="ctr"/>
                </a:tc>
                <a:tc>
                  <a:txBody>
                    <a:bodyPr/>
                    <a:lstStyle/>
                    <a:p>
                      <a:pPr>
                        <a:buNone/>
                      </a:pPr>
                      <a:r>
                        <a:rPr lang="en-US" sz="1200"/>
                        <a:t>Hindi-English search using Wikipedia and BM25</a:t>
                      </a:r>
                    </a:p>
                  </a:txBody>
                  <a:tcPr marL="29009" marR="29009" marT="14504" marB="14504" anchor="ctr"/>
                </a:tc>
                <a:extLst>
                  <a:ext uri="{0D108BD9-81ED-4DB2-BD59-A6C34878D82A}">
                    <a16:rowId xmlns:a16="http://schemas.microsoft.com/office/drawing/2014/main" val="3340708460"/>
                  </a:ext>
                </a:extLst>
              </a:tr>
              <a:tr h="619623">
                <a:tc>
                  <a:txBody>
                    <a:bodyPr/>
                    <a:lstStyle/>
                    <a:p>
                      <a:pPr>
                        <a:buNone/>
                      </a:pPr>
                      <a:r>
                        <a:rPr lang="en-US" sz="1200"/>
                        <a:t>4</a:t>
                      </a:r>
                    </a:p>
                  </a:txBody>
                  <a:tcPr marL="29009" marR="29009" marT="14504" marB="14504" anchor="ctr"/>
                </a:tc>
                <a:tc>
                  <a:txBody>
                    <a:bodyPr/>
                    <a:lstStyle/>
                    <a:p>
                      <a:pPr>
                        <a:buNone/>
                      </a:pPr>
                      <a:r>
                        <a:rPr lang="en-US" sz="1200"/>
                        <a:t>Towards Building a Multilingual Semantic Network: Identifying Interlingual Links in Wikipedia</a:t>
                      </a:r>
                    </a:p>
                  </a:txBody>
                  <a:tcPr marL="29009" marR="29009" marT="14504" marB="14504" anchor="ctr"/>
                </a:tc>
                <a:tc>
                  <a:txBody>
                    <a:bodyPr/>
                    <a:lstStyle/>
                    <a:p>
                      <a:pPr>
                        <a:buNone/>
                      </a:pPr>
                      <a:r>
                        <a:rPr lang="en-US" sz="1200" dirty="0"/>
                        <a:t>Bharath </a:t>
                      </a:r>
                      <a:r>
                        <a:rPr lang="en-US" sz="1200" dirty="0" err="1"/>
                        <a:t>Dandala</a:t>
                      </a:r>
                      <a:r>
                        <a:rPr lang="en-US" sz="1200" dirty="0"/>
                        <a:t>, Rada Mihalcea, Razvan Bunescu</a:t>
                      </a:r>
                    </a:p>
                  </a:txBody>
                  <a:tcPr marL="29009" marR="29009" marT="14504" marB="14504" anchor="ctr"/>
                </a:tc>
                <a:tc>
                  <a:txBody>
                    <a:bodyPr/>
                    <a:lstStyle/>
                    <a:p>
                      <a:pPr>
                        <a:buNone/>
                      </a:pPr>
                      <a:r>
                        <a:rPr lang="en-US" sz="1200" dirty="0"/>
                        <a:t>2012</a:t>
                      </a:r>
                    </a:p>
                  </a:txBody>
                  <a:tcPr marL="29009" marR="29009" marT="14504" marB="14504" anchor="ctr"/>
                </a:tc>
                <a:tc>
                  <a:txBody>
                    <a:bodyPr/>
                    <a:lstStyle/>
                    <a:p>
                      <a:pPr>
                        <a:buNone/>
                      </a:pPr>
                      <a:r>
                        <a:rPr lang="en-US" sz="1200"/>
                        <a:t>Semantic relationships between Wikipedia languages</a:t>
                      </a:r>
                    </a:p>
                  </a:txBody>
                  <a:tcPr marL="29009" marR="29009" marT="14504" marB="14504" anchor="ctr"/>
                </a:tc>
                <a:extLst>
                  <a:ext uri="{0D108BD9-81ED-4DB2-BD59-A6C34878D82A}">
                    <a16:rowId xmlns:a16="http://schemas.microsoft.com/office/drawing/2014/main" val="521659986"/>
                  </a:ext>
                </a:extLst>
              </a:tr>
              <a:tr h="619623">
                <a:tc>
                  <a:txBody>
                    <a:bodyPr/>
                    <a:lstStyle/>
                    <a:p>
                      <a:pPr>
                        <a:buNone/>
                      </a:pPr>
                      <a:r>
                        <a:rPr lang="en-US" sz="1200"/>
                        <a:t>5</a:t>
                      </a:r>
                    </a:p>
                  </a:txBody>
                  <a:tcPr marL="29009" marR="29009" marT="14504" marB="14504" anchor="ctr"/>
                </a:tc>
                <a:tc>
                  <a:txBody>
                    <a:bodyPr/>
                    <a:lstStyle/>
                    <a:p>
                      <a:pPr>
                        <a:buNone/>
                      </a:pPr>
                      <a:r>
                        <a:rPr lang="en-US" sz="1200"/>
                        <a:t>WikiTranslate: Query Translation for Cross-lingual Information Retrieval using only Wikipedia</a:t>
                      </a:r>
                    </a:p>
                  </a:txBody>
                  <a:tcPr marL="29009" marR="29009" marT="14504" marB="14504" anchor="ctr"/>
                </a:tc>
                <a:tc>
                  <a:txBody>
                    <a:bodyPr/>
                    <a:lstStyle/>
                    <a:p>
                      <a:pPr>
                        <a:buNone/>
                      </a:pPr>
                      <a:r>
                        <a:rPr lang="en-US" sz="1200" dirty="0"/>
                        <a:t>Dong Nguyen et al.</a:t>
                      </a:r>
                    </a:p>
                  </a:txBody>
                  <a:tcPr marL="29009" marR="29009" marT="14504" marB="14504" anchor="ctr"/>
                </a:tc>
                <a:tc>
                  <a:txBody>
                    <a:bodyPr/>
                    <a:lstStyle/>
                    <a:p>
                      <a:pPr>
                        <a:buNone/>
                      </a:pPr>
                      <a:r>
                        <a:rPr lang="en-US" sz="1200" dirty="0"/>
                        <a:t>—</a:t>
                      </a:r>
                    </a:p>
                  </a:txBody>
                  <a:tcPr marL="29009" marR="29009" marT="14504" marB="14504" anchor="ctr"/>
                </a:tc>
                <a:tc>
                  <a:txBody>
                    <a:bodyPr/>
                    <a:lstStyle/>
                    <a:p>
                      <a:pPr>
                        <a:buNone/>
                      </a:pPr>
                      <a:r>
                        <a:rPr lang="en-US" sz="1200"/>
                        <a:t>Uses Wikipedia for multilingual query translation</a:t>
                      </a:r>
                    </a:p>
                  </a:txBody>
                  <a:tcPr marL="29009" marR="29009" marT="14504" marB="14504" anchor="ctr"/>
                </a:tc>
                <a:extLst>
                  <a:ext uri="{0D108BD9-81ED-4DB2-BD59-A6C34878D82A}">
                    <a16:rowId xmlns:a16="http://schemas.microsoft.com/office/drawing/2014/main" val="769631446"/>
                  </a:ext>
                </a:extLst>
              </a:tr>
              <a:tr h="619623">
                <a:tc>
                  <a:txBody>
                    <a:bodyPr/>
                    <a:lstStyle/>
                    <a:p>
                      <a:pPr>
                        <a:buNone/>
                      </a:pPr>
                      <a:r>
                        <a:rPr lang="en-US" sz="1200"/>
                        <a:t>6</a:t>
                      </a:r>
                    </a:p>
                  </a:txBody>
                  <a:tcPr marL="29009" marR="29009" marT="14504" marB="14504" anchor="ctr"/>
                </a:tc>
                <a:tc>
                  <a:txBody>
                    <a:bodyPr/>
                    <a:lstStyle/>
                    <a:p>
                      <a:pPr>
                        <a:buNone/>
                      </a:pPr>
                      <a:r>
                        <a:rPr lang="en-US" sz="1200"/>
                        <a:t>Analysing Entity Context in Multilingual Wikipedia to Support Entity-Centric Retrieval Applications</a:t>
                      </a:r>
                    </a:p>
                  </a:txBody>
                  <a:tcPr marL="29009" marR="29009" marT="14504" marB="14504" anchor="ctr"/>
                </a:tc>
                <a:tc>
                  <a:txBody>
                    <a:bodyPr/>
                    <a:lstStyle/>
                    <a:p>
                      <a:pPr>
                        <a:buNone/>
                      </a:pPr>
                      <a:r>
                        <a:rPr lang="en-US" sz="1200"/>
                        <a:t>Yiwei Zhou, Elena Demidova, Alexandra I. Cristea</a:t>
                      </a:r>
                    </a:p>
                  </a:txBody>
                  <a:tcPr marL="29009" marR="29009" marT="14504" marB="14504" anchor="ctr"/>
                </a:tc>
                <a:tc>
                  <a:txBody>
                    <a:bodyPr/>
                    <a:lstStyle/>
                    <a:p>
                      <a:pPr>
                        <a:buNone/>
                      </a:pPr>
                      <a:r>
                        <a:rPr lang="en-US" sz="1200" dirty="0"/>
                        <a:t>2016</a:t>
                      </a:r>
                    </a:p>
                  </a:txBody>
                  <a:tcPr marL="29009" marR="29009" marT="14504" marB="14504" anchor="ctr"/>
                </a:tc>
                <a:tc>
                  <a:txBody>
                    <a:bodyPr/>
                    <a:lstStyle/>
                    <a:p>
                      <a:pPr>
                        <a:buNone/>
                      </a:pPr>
                      <a:r>
                        <a:rPr lang="en-US" sz="1200" dirty="0"/>
                        <a:t>Multilingual Wikipedia and entity-based retrieval</a:t>
                      </a:r>
                    </a:p>
                  </a:txBody>
                  <a:tcPr marL="29009" marR="29009" marT="14504" marB="14504" anchor="ctr"/>
                </a:tc>
                <a:extLst>
                  <a:ext uri="{0D108BD9-81ED-4DB2-BD59-A6C34878D82A}">
                    <a16:rowId xmlns:a16="http://schemas.microsoft.com/office/drawing/2014/main" val="3811631226"/>
                  </a:ext>
                </a:extLst>
              </a:tr>
              <a:tr h="470626">
                <a:tc>
                  <a:txBody>
                    <a:bodyPr/>
                    <a:lstStyle/>
                    <a:p>
                      <a:pPr>
                        <a:buNone/>
                      </a:pPr>
                      <a:r>
                        <a:rPr lang="en-US" sz="1200"/>
                        <a:t>7</a:t>
                      </a:r>
                    </a:p>
                  </a:txBody>
                  <a:tcPr marL="29009" marR="29009" marT="14504" marB="14504" anchor="ctr"/>
                </a:tc>
                <a:tc>
                  <a:txBody>
                    <a:bodyPr/>
                    <a:lstStyle/>
                    <a:p>
                      <a:pPr>
                        <a:buNone/>
                      </a:pPr>
                      <a:r>
                        <a:rPr lang="en-US" sz="1200"/>
                        <a:t>Considerations for Multilingual Wikipedia Research</a:t>
                      </a:r>
                    </a:p>
                  </a:txBody>
                  <a:tcPr marL="29009" marR="29009" marT="14504" marB="14504" anchor="ctr"/>
                </a:tc>
                <a:tc>
                  <a:txBody>
                    <a:bodyPr/>
                    <a:lstStyle/>
                    <a:p>
                      <a:pPr>
                        <a:buNone/>
                      </a:pPr>
                      <a:r>
                        <a:rPr lang="en-US" sz="1200"/>
                        <a:t>Isaac Johnson, Emily Lescak</a:t>
                      </a:r>
                    </a:p>
                  </a:txBody>
                  <a:tcPr marL="29009" marR="29009" marT="14504" marB="14504" anchor="ctr"/>
                </a:tc>
                <a:tc>
                  <a:txBody>
                    <a:bodyPr/>
                    <a:lstStyle/>
                    <a:p>
                      <a:pPr>
                        <a:buNone/>
                      </a:pPr>
                      <a:r>
                        <a:rPr lang="en-US" sz="1200"/>
                        <a:t>2022</a:t>
                      </a:r>
                    </a:p>
                  </a:txBody>
                  <a:tcPr marL="29009" marR="29009" marT="14504" marB="14504" anchor="ctr"/>
                </a:tc>
                <a:tc>
                  <a:txBody>
                    <a:bodyPr/>
                    <a:lstStyle/>
                    <a:p>
                      <a:pPr>
                        <a:buNone/>
                      </a:pPr>
                      <a:r>
                        <a:rPr lang="en-US" sz="1200" dirty="0"/>
                        <a:t>Challenges and considerations when using multilingual Wikipedia datasets</a:t>
                      </a:r>
                    </a:p>
                  </a:txBody>
                  <a:tcPr marL="29009" marR="29009" marT="14504" marB="14504" anchor="ctr"/>
                </a:tc>
                <a:extLst>
                  <a:ext uri="{0D108BD9-81ED-4DB2-BD59-A6C34878D82A}">
                    <a16:rowId xmlns:a16="http://schemas.microsoft.com/office/drawing/2014/main" val="1367703995"/>
                  </a:ext>
                </a:extLst>
              </a:tr>
              <a:tr h="718955">
                <a:tc>
                  <a:txBody>
                    <a:bodyPr/>
                    <a:lstStyle/>
                    <a:p>
                      <a:pPr>
                        <a:buNone/>
                      </a:pPr>
                      <a:r>
                        <a:rPr lang="en-US" sz="1400"/>
                        <a:t>8</a:t>
                      </a:r>
                    </a:p>
                  </a:txBody>
                  <a:tcPr marL="29009" marR="29009" marT="14504" marB="14504" anchor="ctr"/>
                </a:tc>
                <a:tc>
                  <a:txBody>
                    <a:bodyPr/>
                    <a:lstStyle/>
                    <a:p>
                      <a:pPr>
                        <a:buNone/>
                      </a:pPr>
                      <a:r>
                        <a:rPr lang="en-US" sz="1400"/>
                        <a:t>SqCLIRIL: Spoken Query Cross-Lingual Information Retrieval in Indian Languages</a:t>
                      </a:r>
                    </a:p>
                  </a:txBody>
                  <a:tcPr marL="29009" marR="29009" marT="14504" marB="14504" anchor="ctr"/>
                </a:tc>
                <a:tc>
                  <a:txBody>
                    <a:bodyPr/>
                    <a:lstStyle/>
                    <a:p>
                      <a:pPr>
                        <a:buNone/>
                      </a:pPr>
                      <a:r>
                        <a:rPr lang="en-US" sz="1400" dirty="0"/>
                        <a:t>Bhargav Dave, Prasenjit Majumder</a:t>
                      </a:r>
                    </a:p>
                  </a:txBody>
                  <a:tcPr marL="29009" marR="29009" marT="14504" marB="14504" anchor="ctr"/>
                </a:tc>
                <a:tc>
                  <a:txBody>
                    <a:bodyPr/>
                    <a:lstStyle/>
                    <a:p>
                      <a:pPr>
                        <a:buNone/>
                      </a:pPr>
                      <a:r>
                        <a:rPr lang="en-US" sz="1400"/>
                        <a:t>2026</a:t>
                      </a:r>
                    </a:p>
                  </a:txBody>
                  <a:tcPr marL="29009" marR="29009" marT="14504" marB="14504" anchor="ctr"/>
                </a:tc>
                <a:tc>
                  <a:txBody>
                    <a:bodyPr/>
                    <a:lstStyle/>
                    <a:p>
                      <a:pPr>
                        <a:buNone/>
                      </a:pPr>
                      <a:r>
                        <a:rPr lang="en-US" sz="1400" dirty="0"/>
                        <a:t>Indian-language retrieval using BM25, semantic retrieval, and AI-based ranking</a:t>
                      </a:r>
                    </a:p>
                  </a:txBody>
                  <a:tcPr marL="29009" marR="29009" marT="14504" marB="14504" anchor="ctr"/>
                </a:tc>
                <a:extLst>
                  <a:ext uri="{0D108BD9-81ED-4DB2-BD59-A6C34878D82A}">
                    <a16:rowId xmlns:a16="http://schemas.microsoft.com/office/drawing/2014/main" val="2272607308"/>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5" name="TextBox 4">
            <a:extLst>
              <a:ext uri="{FF2B5EF4-FFF2-40B4-BE49-F238E27FC236}">
                <a16:creationId xmlns:a16="http://schemas.microsoft.com/office/drawing/2014/main" id="{6BBC6685-F0B8-BC65-C552-0CE850CB1C5F}"/>
              </a:ext>
            </a:extLst>
          </p:cNvPr>
          <p:cNvSpPr txBox="1"/>
          <p:nvPr/>
        </p:nvSpPr>
        <p:spPr>
          <a:xfrm>
            <a:off x="1686560" y="1871117"/>
            <a:ext cx="9337040" cy="4062651"/>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Problem Statement</a:t>
            </a:r>
          </a:p>
          <a:p>
            <a:pPr algn="just"/>
            <a:r>
              <a:rPr lang="en-US" sz="2000" dirty="0">
                <a:latin typeface="Times New Roman" panose="02020603050405020304" pitchFamily="18" charset="0"/>
                <a:cs typeface="Times New Roman" panose="02020603050405020304" pitchFamily="18" charset="0"/>
              </a:rPr>
              <a:t>Searching through large amounts of multilingual Wikipedia content can be time-consuming. Traditional keyword search may not provide intelligent results, summaries, or related information. </a:t>
            </a:r>
            <a:r>
              <a:rPr lang="en-US" sz="2000" dirty="0" err="1">
                <a:latin typeface="Times New Roman" panose="02020603050405020304" pitchFamily="18" charset="0"/>
                <a:cs typeface="Times New Roman" panose="02020603050405020304" pitchFamily="18" charset="0"/>
              </a:rPr>
              <a:t>BharatWiki</a:t>
            </a:r>
            <a:r>
              <a:rPr lang="en-US" sz="2000" dirty="0">
                <a:latin typeface="Times New Roman" panose="02020603050405020304" pitchFamily="18" charset="0"/>
                <a:cs typeface="Times New Roman" panose="02020603050405020304" pitchFamily="18" charset="0"/>
              </a:rPr>
              <a:t> AI aims to provide fast, relevant, and intelligent knowledge discovery across Indian-language Wikipedia content.</a:t>
            </a:r>
          </a:p>
          <a:p>
            <a:endParaRPr lang="en-US"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Objectives</a:t>
            </a:r>
          </a:p>
          <a:p>
            <a:pPr algn="just"/>
            <a:r>
              <a:rPr lang="en-US"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Provide multilingual search for Indian languages</a:t>
            </a:r>
          </a:p>
          <a:p>
            <a:pPr algn="just"/>
            <a:r>
              <a:rPr lang="en-US" sz="2000" dirty="0">
                <a:latin typeface="Times New Roman" panose="02020603050405020304" pitchFamily="18" charset="0"/>
                <a:cs typeface="Times New Roman" panose="02020603050405020304" pitchFamily="18" charset="0"/>
              </a:rPr>
              <a:t>•Improve search speed using an inverted index</a:t>
            </a:r>
          </a:p>
          <a:p>
            <a:pPr algn="just"/>
            <a:r>
              <a:rPr lang="en-US" sz="2000" dirty="0">
                <a:latin typeface="Times New Roman" panose="02020603050405020304" pitchFamily="18" charset="0"/>
                <a:cs typeface="Times New Roman" panose="02020603050405020304" pitchFamily="18" charset="0"/>
              </a:rPr>
              <a:t>•Rank results using TF-IDF and BM25</a:t>
            </a:r>
          </a:p>
          <a:p>
            <a:pPr algn="just"/>
            <a:r>
              <a:rPr lang="en-US" sz="2000" dirty="0">
                <a:latin typeface="Times New Roman" panose="02020603050405020304" pitchFamily="18" charset="0"/>
                <a:cs typeface="Times New Roman" panose="02020603050405020304" pitchFamily="18" charset="0"/>
              </a:rPr>
              <a:t>•Support semantic search using NLP/AI</a:t>
            </a:r>
          </a:p>
          <a:p>
            <a:pPr algn="just"/>
            <a:r>
              <a:rPr lang="en-US" sz="2000" dirty="0">
                <a:latin typeface="Times New Roman" panose="02020603050405020304" pitchFamily="18" charset="0"/>
                <a:cs typeface="Times New Roman" panose="02020603050405020304" pitchFamily="18" charset="0"/>
              </a:rPr>
              <a:t>•Generate AI-based summaries</a:t>
            </a:r>
          </a:p>
          <a:p>
            <a:pPr algn="just"/>
            <a:r>
              <a:rPr lang="en-US" sz="2000" dirty="0">
                <a:latin typeface="Times New Roman" panose="02020603050405020304" pitchFamily="18" charset="0"/>
                <a:cs typeface="Times New Roman" panose="02020603050405020304" pitchFamily="18" charset="0"/>
              </a:rPr>
              <a:t>•Recommend related articles</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pic>
        <p:nvPicPr>
          <p:cNvPr id="5" name="Picture 4">
            <a:extLst>
              <a:ext uri="{FF2B5EF4-FFF2-40B4-BE49-F238E27FC236}">
                <a16:creationId xmlns:a16="http://schemas.microsoft.com/office/drawing/2014/main" id="{9909A8AC-23A1-CAD0-5EC5-FDE3C230D18C}"/>
              </a:ext>
            </a:extLst>
          </p:cNvPr>
          <p:cNvPicPr>
            <a:picLocks noChangeAspect="1"/>
          </p:cNvPicPr>
          <p:nvPr/>
        </p:nvPicPr>
        <p:blipFill>
          <a:blip r:embed="rId2"/>
          <a:stretch>
            <a:fillRect/>
          </a:stretch>
        </p:blipFill>
        <p:spPr>
          <a:xfrm>
            <a:off x="751113" y="903514"/>
            <a:ext cx="11070771" cy="562791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5" name="TextBox 4">
            <a:extLst>
              <a:ext uri="{FF2B5EF4-FFF2-40B4-BE49-F238E27FC236}">
                <a16:creationId xmlns:a16="http://schemas.microsoft.com/office/drawing/2014/main" id="{9459FF6D-CCB0-5FF4-72F1-92CFC86AC00D}"/>
              </a:ext>
            </a:extLst>
          </p:cNvPr>
          <p:cNvSpPr txBox="1"/>
          <p:nvPr/>
        </p:nvSpPr>
        <p:spPr>
          <a:xfrm>
            <a:off x="1178560" y="1403201"/>
            <a:ext cx="10424160" cy="4924425"/>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For your Intelligent Multilingual Knowledge Discovery Platform, you can put these points on the Results slide:</a:t>
            </a:r>
          </a:p>
          <a:p>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Accurate Information Retrieval – Retrieves relevant knowledge from multilingual sources such as Wikipedia</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Multilingual Search – Supports searching and discovering information across different languages</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Improved Result Ranking – Combines BM25 and semantic retrieval to identify more relevant results</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Cross-Lingual Query Processing – Allows users to search in one language and retrieve information from content available in another</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Semantic Understanding – Identifies results based on meaning, not only exact keyword matches</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Knowledge Discovery – Provides users with relevant and organized information from multiple language resources</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Efficient Retrieval – Reduces the effort required to find information across multilingual knowledge bases</a:t>
            </a:r>
          </a:p>
          <a:p>
            <a:r>
              <a:rPr lang="en-US" sz="1400" dirty="0">
                <a:solidFill>
                  <a:srgbClr val="FFFFFF"/>
                </a:solidFill>
                <a:latin typeface="Consolas" panose="020B0609020204030204" pitchFamily="49" charset="0"/>
              </a:rPr>
              <a:t>For your Intelligent Multilingual Knowledge Discovery Platform, you can put these points on the Results</a:t>
            </a:r>
          </a:p>
        </p:txBody>
      </p:sp>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graphicFrame>
        <p:nvGraphicFramePr>
          <p:cNvPr id="4" name="Table 3">
            <a:extLst>
              <a:ext uri="{FF2B5EF4-FFF2-40B4-BE49-F238E27FC236}">
                <a16:creationId xmlns:a16="http://schemas.microsoft.com/office/drawing/2014/main" id="{5EC8EF2E-BDA6-D24B-204C-CA8A97608CBF}"/>
              </a:ext>
            </a:extLst>
          </p:cNvPr>
          <p:cNvGraphicFramePr>
            <a:graphicFrameLocks noGrp="1"/>
          </p:cNvGraphicFramePr>
          <p:nvPr>
            <p:extLst>
              <p:ext uri="{D42A27DB-BD31-4B8C-83A1-F6EECF244321}">
                <p14:modId xmlns:p14="http://schemas.microsoft.com/office/powerpoint/2010/main" val="2677345897"/>
              </p:ext>
            </p:extLst>
          </p:nvPr>
        </p:nvGraphicFramePr>
        <p:xfrm>
          <a:off x="1107440" y="1737360"/>
          <a:ext cx="10246360" cy="4123557"/>
        </p:xfrm>
        <a:graphic>
          <a:graphicData uri="http://schemas.openxmlformats.org/drawingml/2006/table">
            <a:tbl>
              <a:tblPr>
                <a:tableStyleId>{5C22544A-7EE6-4342-B048-85BDC9FD1C3A}</a:tableStyleId>
              </a:tblPr>
              <a:tblGrid>
                <a:gridCol w="5123180">
                  <a:extLst>
                    <a:ext uri="{9D8B030D-6E8A-4147-A177-3AD203B41FA5}">
                      <a16:colId xmlns:a16="http://schemas.microsoft.com/office/drawing/2014/main" val="2191556205"/>
                    </a:ext>
                  </a:extLst>
                </a:gridCol>
                <a:gridCol w="5123180">
                  <a:extLst>
                    <a:ext uri="{9D8B030D-6E8A-4147-A177-3AD203B41FA5}">
                      <a16:colId xmlns:a16="http://schemas.microsoft.com/office/drawing/2014/main" val="607725719"/>
                    </a:ext>
                  </a:extLst>
                </a:gridCol>
              </a:tblGrid>
              <a:tr h="441615">
                <a:tc>
                  <a:txBody>
                    <a:bodyPr/>
                    <a:lstStyle/>
                    <a:p>
                      <a:pPr>
                        <a:buNone/>
                      </a:pPr>
                      <a:r>
                        <a:rPr lang="en-US" sz="2000" dirty="0"/>
                        <a:t>Hardware Requirements</a:t>
                      </a:r>
                    </a:p>
                  </a:txBody>
                  <a:tcPr anchor="ctr"/>
                </a:tc>
                <a:tc>
                  <a:txBody>
                    <a:bodyPr/>
                    <a:lstStyle/>
                    <a:p>
                      <a:pPr>
                        <a:buNone/>
                      </a:pPr>
                      <a:r>
                        <a:rPr lang="en-US" sz="2000"/>
                        <a:t>Software Requirements</a:t>
                      </a:r>
                    </a:p>
                  </a:txBody>
                  <a:tcPr anchor="ctr"/>
                </a:tc>
                <a:extLst>
                  <a:ext uri="{0D108BD9-81ED-4DB2-BD59-A6C34878D82A}">
                    <a16:rowId xmlns:a16="http://schemas.microsoft.com/office/drawing/2014/main" val="2078328620"/>
                  </a:ext>
                </a:extLst>
              </a:tr>
              <a:tr h="441615">
                <a:tc>
                  <a:txBody>
                    <a:bodyPr/>
                    <a:lstStyle/>
                    <a:p>
                      <a:pPr>
                        <a:buNone/>
                      </a:pPr>
                      <a:r>
                        <a:rPr lang="en-US" sz="2000" dirty="0"/>
                        <a:t>Processor: Intel Core i5 or equivalent</a:t>
                      </a:r>
                    </a:p>
                  </a:txBody>
                  <a:tcPr anchor="ctr"/>
                </a:tc>
                <a:tc>
                  <a:txBody>
                    <a:bodyPr/>
                    <a:lstStyle/>
                    <a:p>
                      <a:pPr>
                        <a:buNone/>
                      </a:pPr>
                      <a:r>
                        <a:rPr lang="en-US" sz="2000"/>
                        <a:t>Operating System: Windows / Linux</a:t>
                      </a:r>
                    </a:p>
                  </a:txBody>
                  <a:tcPr anchor="ctr"/>
                </a:tc>
                <a:extLst>
                  <a:ext uri="{0D108BD9-81ED-4DB2-BD59-A6C34878D82A}">
                    <a16:rowId xmlns:a16="http://schemas.microsoft.com/office/drawing/2014/main" val="1981039137"/>
                  </a:ext>
                </a:extLst>
              </a:tr>
              <a:tr h="441615">
                <a:tc>
                  <a:txBody>
                    <a:bodyPr/>
                    <a:lstStyle/>
                    <a:p>
                      <a:pPr>
                        <a:buNone/>
                      </a:pPr>
                      <a:r>
                        <a:rPr lang="en-US" sz="2000" dirty="0"/>
                        <a:t>RAM: 8 GB minimum</a:t>
                      </a:r>
                    </a:p>
                  </a:txBody>
                  <a:tcPr anchor="ctr"/>
                </a:tc>
                <a:tc>
                  <a:txBody>
                    <a:bodyPr/>
                    <a:lstStyle/>
                    <a:p>
                      <a:pPr>
                        <a:buNone/>
                      </a:pPr>
                      <a:r>
                        <a:rPr lang="en-US" sz="2000"/>
                        <a:t>Programming Language: Python</a:t>
                      </a:r>
                    </a:p>
                  </a:txBody>
                  <a:tcPr anchor="ctr"/>
                </a:tc>
                <a:extLst>
                  <a:ext uri="{0D108BD9-81ED-4DB2-BD59-A6C34878D82A}">
                    <a16:rowId xmlns:a16="http://schemas.microsoft.com/office/drawing/2014/main" val="992890168"/>
                  </a:ext>
                </a:extLst>
              </a:tr>
              <a:tr h="441615">
                <a:tc>
                  <a:txBody>
                    <a:bodyPr/>
                    <a:lstStyle/>
                    <a:p>
                      <a:pPr>
                        <a:buNone/>
                      </a:pPr>
                      <a:r>
                        <a:rPr lang="en-US" sz="2000" dirty="0"/>
                        <a:t>Storage: 256 GB SSD or higher</a:t>
                      </a:r>
                    </a:p>
                  </a:txBody>
                  <a:tcPr anchor="ctr"/>
                </a:tc>
                <a:tc>
                  <a:txBody>
                    <a:bodyPr/>
                    <a:lstStyle/>
                    <a:p>
                      <a:pPr>
                        <a:buNone/>
                      </a:pPr>
                      <a:r>
                        <a:rPr lang="en-US" sz="2000"/>
                        <a:t>IDE: VS Code / Jupyter Notebook</a:t>
                      </a:r>
                    </a:p>
                  </a:txBody>
                  <a:tcPr anchor="ctr"/>
                </a:tc>
                <a:extLst>
                  <a:ext uri="{0D108BD9-81ED-4DB2-BD59-A6C34878D82A}">
                    <a16:rowId xmlns:a16="http://schemas.microsoft.com/office/drawing/2014/main" val="2321588380"/>
                  </a:ext>
                </a:extLst>
              </a:tr>
              <a:tr h="441615">
                <a:tc>
                  <a:txBody>
                    <a:bodyPr/>
                    <a:lstStyle/>
                    <a:p>
                      <a:pPr>
                        <a:buNone/>
                      </a:pPr>
                      <a:r>
                        <a:rPr lang="en-US" sz="2000" dirty="0"/>
                        <a:t>GPU: Optional</a:t>
                      </a:r>
                    </a:p>
                  </a:txBody>
                  <a:tcPr anchor="ctr"/>
                </a:tc>
                <a:tc>
                  <a:txBody>
                    <a:bodyPr/>
                    <a:lstStyle/>
                    <a:p>
                      <a:pPr>
                        <a:buNone/>
                      </a:pPr>
                      <a:r>
                        <a:rPr lang="en-US" sz="2000" dirty="0"/>
                        <a:t>Libraries: NLTK, Scikit-learn, Transformers</a:t>
                      </a:r>
                    </a:p>
                  </a:txBody>
                  <a:tcPr anchor="ctr"/>
                </a:tc>
                <a:extLst>
                  <a:ext uri="{0D108BD9-81ED-4DB2-BD59-A6C34878D82A}">
                    <a16:rowId xmlns:a16="http://schemas.microsoft.com/office/drawing/2014/main" val="920351757"/>
                  </a:ext>
                </a:extLst>
              </a:tr>
              <a:tr h="441615">
                <a:tc>
                  <a:txBody>
                    <a:bodyPr/>
                    <a:lstStyle/>
                    <a:p>
                      <a:pPr>
                        <a:buNone/>
                      </a:pPr>
                      <a:r>
                        <a:rPr lang="en-US" sz="2000"/>
                        <a:t>Internet Connection: Required</a:t>
                      </a:r>
                    </a:p>
                  </a:txBody>
                  <a:tcPr anchor="ctr"/>
                </a:tc>
                <a:tc>
                  <a:txBody>
                    <a:bodyPr/>
                    <a:lstStyle/>
                    <a:p>
                      <a:pPr>
                        <a:buNone/>
                      </a:pPr>
                      <a:r>
                        <a:rPr lang="en-US" sz="2000" dirty="0"/>
                        <a:t>Retrieval: BM25 / Semantic Search</a:t>
                      </a:r>
                    </a:p>
                  </a:txBody>
                  <a:tcPr anchor="ctr"/>
                </a:tc>
                <a:extLst>
                  <a:ext uri="{0D108BD9-81ED-4DB2-BD59-A6C34878D82A}">
                    <a16:rowId xmlns:a16="http://schemas.microsoft.com/office/drawing/2014/main" val="1842027442"/>
                  </a:ext>
                </a:extLst>
              </a:tr>
              <a:tr h="441615">
                <a:tc>
                  <a:txBody>
                    <a:bodyPr/>
                    <a:lstStyle/>
                    <a:p>
                      <a:pPr>
                        <a:buNone/>
                      </a:pPr>
                      <a:r>
                        <a:rPr lang="en-US" sz="2000"/>
                        <a:t>Microphone: Required for voice queries (optional)</a:t>
                      </a:r>
                    </a:p>
                  </a:txBody>
                  <a:tcPr anchor="ctr"/>
                </a:tc>
                <a:tc>
                  <a:txBody>
                    <a:bodyPr/>
                    <a:lstStyle/>
                    <a:p>
                      <a:pPr>
                        <a:buNone/>
                      </a:pPr>
                      <a:r>
                        <a:rPr lang="en-US" sz="2000" dirty="0"/>
                        <a:t>Knowledge Source: Wikipedia / Wikipedia API</a:t>
                      </a:r>
                    </a:p>
                  </a:txBody>
                  <a:tcPr anchor="ctr"/>
                </a:tc>
                <a:extLst>
                  <a:ext uri="{0D108BD9-81ED-4DB2-BD59-A6C34878D82A}">
                    <a16:rowId xmlns:a16="http://schemas.microsoft.com/office/drawing/2014/main" val="2744737062"/>
                  </a:ext>
                </a:extLst>
              </a:tr>
              <a:tr h="772827">
                <a:tc>
                  <a:txBody>
                    <a:bodyPr/>
                    <a:lstStyle/>
                    <a:p>
                      <a:pPr>
                        <a:buNone/>
                      </a:pPr>
                      <a:r>
                        <a:rPr lang="en-US" sz="2000"/>
                        <a:t>Display: Standard monitor</a:t>
                      </a:r>
                    </a:p>
                  </a:txBody>
                  <a:tcPr anchor="ctr"/>
                </a:tc>
                <a:tc>
                  <a:txBody>
                    <a:bodyPr/>
                    <a:lstStyle/>
                    <a:p>
                      <a:pPr>
                        <a:buNone/>
                      </a:pPr>
                      <a:r>
                        <a:rPr lang="en-US" sz="2000" dirty="0"/>
                        <a:t>Database/Storage: Suitable document or vector storage</a:t>
                      </a:r>
                    </a:p>
                  </a:txBody>
                  <a:tcPr anchor="ctr"/>
                </a:tc>
                <a:extLst>
                  <a:ext uri="{0D108BD9-81ED-4DB2-BD59-A6C34878D82A}">
                    <a16:rowId xmlns:a16="http://schemas.microsoft.com/office/drawing/2014/main" val="2016474417"/>
                  </a:ext>
                </a:extLst>
              </a:tr>
            </a:tbl>
          </a:graphicData>
        </a:graphic>
      </p:graphicFrame>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5" name="TextBox 4">
            <a:extLst>
              <a:ext uri="{FF2B5EF4-FFF2-40B4-BE49-F238E27FC236}">
                <a16:creationId xmlns:a16="http://schemas.microsoft.com/office/drawing/2014/main" id="{DBD222E8-C39D-A6F5-C2DE-6EB1EE67319F}"/>
              </a:ext>
            </a:extLst>
          </p:cNvPr>
          <p:cNvSpPr txBox="1"/>
          <p:nvPr/>
        </p:nvSpPr>
        <p:spPr>
          <a:xfrm>
            <a:off x="1325880" y="2313282"/>
            <a:ext cx="10281920" cy="3046988"/>
          </a:xfrm>
          <a:prstGeom prst="rect">
            <a:avLst/>
          </a:prstGeom>
          <a:noFill/>
        </p:spPr>
        <p:txBody>
          <a:bodyPr wrap="square">
            <a:spAutoFit/>
          </a:bodyPr>
          <a:lstStyle/>
          <a:p>
            <a:r>
              <a:rPr lang="en-US" sz="2000" b="1" dirty="0"/>
              <a:t>Conclusion</a:t>
            </a:r>
          </a:p>
          <a:p>
            <a:endParaRPr lang="en-US" b="1" dirty="0"/>
          </a:p>
          <a:p>
            <a:pPr marL="342900" indent="-342900" algn="just">
              <a:buFont typeface="Arial" panose="020B0604020202020204" pitchFamily="34" charset="0"/>
              <a:buChar char="•"/>
            </a:pPr>
            <a:r>
              <a:rPr lang="en-US" sz="2000" dirty="0"/>
              <a:t>The Intelligent Multilingual Knowledge Discovery Platform enables users to search and discover information across multiple languages</a:t>
            </a:r>
          </a:p>
          <a:p>
            <a:pPr marL="342900" indent="-342900" algn="just">
              <a:buFont typeface="Arial" panose="020B0604020202020204" pitchFamily="34" charset="0"/>
              <a:buChar char="•"/>
            </a:pPr>
            <a:r>
              <a:rPr lang="en-US" sz="2000" dirty="0"/>
              <a:t>It combines query processing, multilingual retrieval, BM25, and semantic search to identify relevant information</a:t>
            </a:r>
          </a:p>
          <a:p>
            <a:pPr marL="342900" indent="-342900" algn="just">
              <a:buFont typeface="Arial" panose="020B0604020202020204" pitchFamily="34" charset="0"/>
              <a:buChar char="•"/>
            </a:pPr>
            <a:r>
              <a:rPr lang="en-US" sz="2000" dirty="0"/>
              <a:t>The platform helps overcome language barriers and improves access to knowledge from multilingual sources such as Wikipedia</a:t>
            </a:r>
          </a:p>
          <a:p>
            <a:pPr marL="342900" indent="-342900" algn="just">
              <a:buFont typeface="Arial" panose="020B0604020202020204" pitchFamily="34" charset="0"/>
              <a:buChar char="•"/>
            </a:pPr>
            <a:r>
              <a:rPr lang="en-US" sz="2000" dirty="0"/>
              <a:t>It provides relevant and user-friendly information in the user's preferred language</a:t>
            </a:r>
          </a:p>
          <a:p>
            <a:endParaRPr lang="en-US" sz="1400" dirty="0">
              <a:solidFill>
                <a:srgbClr val="FFFFFF"/>
              </a:solidFill>
              <a:latin typeface="Consolas" panose="020B0609020204030204" pitchFamily="49"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5" name="TextBox 4">
            <a:extLst>
              <a:ext uri="{FF2B5EF4-FFF2-40B4-BE49-F238E27FC236}">
                <a16:creationId xmlns:a16="http://schemas.microsoft.com/office/drawing/2014/main" id="{262F2E32-6753-26D2-1232-5A2CF4704A14}"/>
              </a:ext>
            </a:extLst>
          </p:cNvPr>
          <p:cNvSpPr txBox="1"/>
          <p:nvPr/>
        </p:nvSpPr>
        <p:spPr>
          <a:xfrm>
            <a:off x="2002971" y="2246647"/>
            <a:ext cx="9326880" cy="3170099"/>
          </a:xfrm>
          <a:prstGeom prst="rect">
            <a:avLst/>
          </a:prstGeom>
          <a:noFill/>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Future Scope</a:t>
            </a:r>
          </a:p>
          <a:p>
            <a:pPr algn="just"/>
            <a:endParaRPr lang="en-US" sz="2000"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Add advanced voice and speech-based search for Indian languages</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Integrate Generative AI/LLMs for better answers and automatic summarization</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Support more Indian and international languages</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Improve semantic understanding using advanced multilingual embedding models</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Develop a mobile application for easier access</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Expand the knowledge base beyond Wikipedia to include books, research papers, news, and educational resources</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Implement real-time retrieval and personalized recommendations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TotalTime>
  <Words>1024</Words>
  <Application>Microsoft Office PowerPoint</Application>
  <PresentationFormat>Widescreen</PresentationFormat>
  <Paragraphs>126</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Consolas</vt:lpstr>
      <vt:lpstr>Times New Roman</vt:lpstr>
      <vt:lpstr>Office Theme</vt:lpstr>
      <vt:lpstr>       Data Structures and Algorithms -3 (25CS2103E)  Intelligent Multilingual Knowledge Discovery Platform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srihitha A</cp:lastModifiedBy>
  <cp:revision>22</cp:revision>
  <dcterms:created xsi:type="dcterms:W3CDTF">2024-08-29T05:25:00Z</dcterms:created>
  <dcterms:modified xsi:type="dcterms:W3CDTF">2026-10-06T13:22:50Z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